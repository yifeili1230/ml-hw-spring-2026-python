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181-4F27-B11C-4725A44E33A3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81-4F27-B11C-4725A44E33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This model</c:v>
                </c:pt>
                <c:pt idx="1">
                  <c:v>Base 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6.2449999999999999E-2</c:v>
                </c:pt>
                <c:pt idx="1">
                  <c:v>5.2580000000000002E-2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81-4F27-B11C-4725A44E33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93657087"/>
        <c:axId val="1293661407"/>
      </c:barChart>
      <c:catAx>
        <c:axId val="12936570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661407"/>
        <c:crosses val="autoZero"/>
        <c:auto val="1"/>
        <c:lblAlgn val="ctr"/>
        <c:lblOffset val="100"/>
        <c:noMultiLvlLbl val="0"/>
      </c:catAx>
      <c:valAx>
        <c:axId val="1293661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657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B64525-BF8B-420D-A02D-EF3B5A4599E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00CD0A-3122-4D59-A632-21DED4905564}">
      <dgm:prSet/>
      <dgm:spPr/>
      <dgm:t>
        <a:bodyPr/>
        <a:lstStyle/>
        <a:p>
          <a:pPr>
            <a:defRPr cap="all"/>
          </a:pPr>
          <a:r>
            <a:rPr lang="en-US" dirty="0"/>
            <a:t>Core Architecture</a:t>
          </a:r>
        </a:p>
        <a:p>
          <a:pPr>
            <a:defRPr cap="all"/>
          </a:pPr>
          <a:endParaRPr lang="en-US" dirty="0"/>
        </a:p>
      </dgm:t>
    </dgm:pt>
    <dgm:pt modelId="{4E8EFDFD-8711-4063-8D57-76D1CDA571D4}" type="parTrans" cxnId="{34A86312-0461-438B-9CC4-6BE3016217B7}">
      <dgm:prSet/>
      <dgm:spPr/>
      <dgm:t>
        <a:bodyPr/>
        <a:lstStyle/>
        <a:p>
          <a:endParaRPr lang="en-US"/>
        </a:p>
      </dgm:t>
    </dgm:pt>
    <dgm:pt modelId="{C88111FE-F6C3-435D-885E-99883DAFD41E}" type="sibTrans" cxnId="{34A86312-0461-438B-9CC4-6BE3016217B7}">
      <dgm:prSet/>
      <dgm:spPr/>
      <dgm:t>
        <a:bodyPr/>
        <a:lstStyle/>
        <a:p>
          <a:endParaRPr lang="en-US"/>
        </a:p>
      </dgm:t>
    </dgm:pt>
    <dgm:pt modelId="{BDBA5704-8922-4C90-B0A9-64F81FAD9C25}">
      <dgm:prSet/>
      <dgm:spPr/>
      <dgm:t>
        <a:bodyPr/>
        <a:lstStyle/>
        <a:p>
          <a:pPr>
            <a:defRPr cap="all"/>
          </a:pPr>
          <a:r>
            <a:rPr lang="en-US" dirty="0"/>
            <a:t>Data Preprocessing</a:t>
          </a:r>
        </a:p>
      </dgm:t>
    </dgm:pt>
    <dgm:pt modelId="{4EBEE0FA-6182-4C10-BF5A-5683BD500523}" type="parTrans" cxnId="{DE50C82D-51B5-4F4B-ADC4-C2718A00C075}">
      <dgm:prSet/>
      <dgm:spPr/>
      <dgm:t>
        <a:bodyPr/>
        <a:lstStyle/>
        <a:p>
          <a:endParaRPr lang="en-US"/>
        </a:p>
      </dgm:t>
    </dgm:pt>
    <dgm:pt modelId="{2245C184-B9BC-45DE-9A2E-0728C718B631}" type="sibTrans" cxnId="{DE50C82D-51B5-4F4B-ADC4-C2718A00C075}">
      <dgm:prSet/>
      <dgm:spPr/>
      <dgm:t>
        <a:bodyPr/>
        <a:lstStyle/>
        <a:p>
          <a:endParaRPr lang="en-US"/>
        </a:p>
      </dgm:t>
    </dgm:pt>
    <dgm:pt modelId="{E6A5FC80-1D21-46C0-9695-4052409A0AAB}">
      <dgm:prSet/>
      <dgm:spPr/>
      <dgm:t>
        <a:bodyPr/>
        <a:lstStyle/>
        <a:p>
          <a:pPr>
            <a:defRPr cap="all"/>
          </a:pPr>
          <a:r>
            <a:rPr lang="en-US" dirty="0"/>
            <a:t>Result</a:t>
          </a:r>
        </a:p>
      </dgm:t>
    </dgm:pt>
    <dgm:pt modelId="{4755E247-48AA-4C15-886A-E090D865DEE7}" type="parTrans" cxnId="{BCF8FD7F-E720-46D3-9451-FEF8B28348ED}">
      <dgm:prSet/>
      <dgm:spPr/>
      <dgm:t>
        <a:bodyPr/>
        <a:lstStyle/>
        <a:p>
          <a:endParaRPr lang="en-US"/>
        </a:p>
      </dgm:t>
    </dgm:pt>
    <dgm:pt modelId="{5D4C11E0-623E-470C-A4E2-12517F301DC1}" type="sibTrans" cxnId="{BCF8FD7F-E720-46D3-9451-FEF8B28348ED}">
      <dgm:prSet/>
      <dgm:spPr/>
      <dgm:t>
        <a:bodyPr/>
        <a:lstStyle/>
        <a:p>
          <a:endParaRPr lang="en-US"/>
        </a:p>
      </dgm:t>
    </dgm:pt>
    <dgm:pt modelId="{97EBF1AD-A751-42E8-BDAC-50A8D6D532A0}" type="pres">
      <dgm:prSet presAssocID="{B2B64525-BF8B-420D-A02D-EF3B5A4599EF}" presName="root" presStyleCnt="0">
        <dgm:presLayoutVars>
          <dgm:dir/>
          <dgm:resizeHandles val="exact"/>
        </dgm:presLayoutVars>
      </dgm:prSet>
      <dgm:spPr/>
    </dgm:pt>
    <dgm:pt modelId="{D089BEF7-8ECF-47EB-A697-B26D3D15666F}" type="pres">
      <dgm:prSet presAssocID="{5600CD0A-3122-4D59-A632-21DED4905564}" presName="compNode" presStyleCnt="0"/>
      <dgm:spPr/>
    </dgm:pt>
    <dgm:pt modelId="{3CC8C03D-3D74-4670-879B-CF2645386FA8}" type="pres">
      <dgm:prSet presAssocID="{5600CD0A-3122-4D59-A632-21DED4905564}" presName="iconBgRect" presStyleLbl="bgShp" presStyleIdx="0" presStyleCnt="3"/>
      <dgm:spPr/>
    </dgm:pt>
    <dgm:pt modelId="{24603964-F4C8-4E3E-A495-17116C3D1206}" type="pres">
      <dgm:prSet presAssocID="{5600CD0A-3122-4D59-A632-21DED490556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10A9BB-1AD8-4F87-9D07-1BC64EC9A632}" type="pres">
      <dgm:prSet presAssocID="{5600CD0A-3122-4D59-A632-21DED4905564}" presName="spaceRect" presStyleCnt="0"/>
      <dgm:spPr/>
    </dgm:pt>
    <dgm:pt modelId="{484E6DDB-A20E-48DC-B119-45B93D376B98}" type="pres">
      <dgm:prSet presAssocID="{5600CD0A-3122-4D59-A632-21DED4905564}" presName="textRect" presStyleLbl="revTx" presStyleIdx="0" presStyleCnt="3">
        <dgm:presLayoutVars>
          <dgm:chMax val="1"/>
          <dgm:chPref val="1"/>
        </dgm:presLayoutVars>
      </dgm:prSet>
      <dgm:spPr/>
    </dgm:pt>
    <dgm:pt modelId="{2DC632DA-F6D5-450B-9674-E71831BD1FEC}" type="pres">
      <dgm:prSet presAssocID="{C88111FE-F6C3-435D-885E-99883DAFD41E}" presName="sibTrans" presStyleCnt="0"/>
      <dgm:spPr/>
    </dgm:pt>
    <dgm:pt modelId="{AB55B8BA-3C39-4F98-80D4-FD3DC3E06547}" type="pres">
      <dgm:prSet presAssocID="{BDBA5704-8922-4C90-B0A9-64F81FAD9C25}" presName="compNode" presStyleCnt="0"/>
      <dgm:spPr/>
    </dgm:pt>
    <dgm:pt modelId="{9B369C08-5D02-4B60-9DCF-73C837792D79}" type="pres">
      <dgm:prSet presAssocID="{BDBA5704-8922-4C90-B0A9-64F81FAD9C25}" presName="iconBgRect" presStyleLbl="bgShp" presStyleIdx="1" presStyleCnt="3" custLinFactNeighborX="-376" custLinFactNeighborY="142"/>
      <dgm:spPr/>
    </dgm:pt>
    <dgm:pt modelId="{653F2B4A-B7B4-4EA9-9701-B352A7960F03}" type="pres">
      <dgm:prSet presAssocID="{BDBA5704-8922-4C90-B0A9-64F81FAD9C2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23C42DB-CEE5-4E06-8CE2-8018F3DB5E81}" type="pres">
      <dgm:prSet presAssocID="{BDBA5704-8922-4C90-B0A9-64F81FAD9C25}" presName="spaceRect" presStyleCnt="0"/>
      <dgm:spPr/>
    </dgm:pt>
    <dgm:pt modelId="{4D0D9FA5-8B14-49B0-A295-739DE4F170CD}" type="pres">
      <dgm:prSet presAssocID="{BDBA5704-8922-4C90-B0A9-64F81FAD9C25}" presName="textRect" presStyleLbl="revTx" presStyleIdx="1" presStyleCnt="3">
        <dgm:presLayoutVars>
          <dgm:chMax val="1"/>
          <dgm:chPref val="1"/>
        </dgm:presLayoutVars>
      </dgm:prSet>
      <dgm:spPr/>
    </dgm:pt>
    <dgm:pt modelId="{A59FB1A2-DBBE-457A-A018-4BF40A6C7D03}" type="pres">
      <dgm:prSet presAssocID="{2245C184-B9BC-45DE-9A2E-0728C718B631}" presName="sibTrans" presStyleCnt="0"/>
      <dgm:spPr/>
    </dgm:pt>
    <dgm:pt modelId="{5A91BD53-6359-44ED-8425-17EDD6166CBD}" type="pres">
      <dgm:prSet presAssocID="{E6A5FC80-1D21-46C0-9695-4052409A0AAB}" presName="compNode" presStyleCnt="0"/>
      <dgm:spPr/>
    </dgm:pt>
    <dgm:pt modelId="{9587BC93-1B38-4D97-8608-4312BA5D8305}" type="pres">
      <dgm:prSet presAssocID="{E6A5FC80-1D21-46C0-9695-4052409A0AAB}" presName="iconBgRect" presStyleLbl="bgShp" presStyleIdx="2" presStyleCnt="3"/>
      <dgm:spPr/>
    </dgm:pt>
    <dgm:pt modelId="{54340C34-7DA7-4D4A-A4B0-D99DE676CCCA}" type="pres">
      <dgm:prSet presAssocID="{E6A5FC80-1D21-46C0-9695-4052409A0AA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E9247DF-EE4C-4795-B8DD-3EB62E61D12F}" type="pres">
      <dgm:prSet presAssocID="{E6A5FC80-1D21-46C0-9695-4052409A0AAB}" presName="spaceRect" presStyleCnt="0"/>
      <dgm:spPr/>
    </dgm:pt>
    <dgm:pt modelId="{A6F51AE7-060F-44A7-9399-2554B5C6E4EE}" type="pres">
      <dgm:prSet presAssocID="{E6A5FC80-1D21-46C0-9695-4052409A0AA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A86312-0461-438B-9CC4-6BE3016217B7}" srcId="{B2B64525-BF8B-420D-A02D-EF3B5A4599EF}" destId="{5600CD0A-3122-4D59-A632-21DED4905564}" srcOrd="0" destOrd="0" parTransId="{4E8EFDFD-8711-4063-8D57-76D1CDA571D4}" sibTransId="{C88111FE-F6C3-435D-885E-99883DAFD41E}"/>
    <dgm:cxn modelId="{36261124-D69F-4633-B742-8B034D96EE4F}" type="presOf" srcId="{BDBA5704-8922-4C90-B0A9-64F81FAD9C25}" destId="{4D0D9FA5-8B14-49B0-A295-739DE4F170CD}" srcOrd="0" destOrd="0" presId="urn:microsoft.com/office/officeart/2018/5/layout/IconCircleLabelList"/>
    <dgm:cxn modelId="{DE50C82D-51B5-4F4B-ADC4-C2718A00C075}" srcId="{B2B64525-BF8B-420D-A02D-EF3B5A4599EF}" destId="{BDBA5704-8922-4C90-B0A9-64F81FAD9C25}" srcOrd="1" destOrd="0" parTransId="{4EBEE0FA-6182-4C10-BF5A-5683BD500523}" sibTransId="{2245C184-B9BC-45DE-9A2E-0728C718B631}"/>
    <dgm:cxn modelId="{C0ADBA73-9124-4DA8-9FD6-8018636442C7}" type="presOf" srcId="{5600CD0A-3122-4D59-A632-21DED4905564}" destId="{484E6DDB-A20E-48DC-B119-45B93D376B98}" srcOrd="0" destOrd="0" presId="urn:microsoft.com/office/officeart/2018/5/layout/IconCircleLabelList"/>
    <dgm:cxn modelId="{8D095579-FFE0-425D-B634-118BC1B5B2DF}" type="presOf" srcId="{B2B64525-BF8B-420D-A02D-EF3B5A4599EF}" destId="{97EBF1AD-A751-42E8-BDAC-50A8D6D532A0}" srcOrd="0" destOrd="0" presId="urn:microsoft.com/office/officeart/2018/5/layout/IconCircleLabelList"/>
    <dgm:cxn modelId="{BCF8FD7F-E720-46D3-9451-FEF8B28348ED}" srcId="{B2B64525-BF8B-420D-A02D-EF3B5A4599EF}" destId="{E6A5FC80-1D21-46C0-9695-4052409A0AAB}" srcOrd="2" destOrd="0" parTransId="{4755E247-48AA-4C15-886A-E090D865DEE7}" sibTransId="{5D4C11E0-623E-470C-A4E2-12517F301DC1}"/>
    <dgm:cxn modelId="{A40D6EF5-3F8E-4D3E-A9AC-A0B2BFA9C893}" type="presOf" srcId="{E6A5FC80-1D21-46C0-9695-4052409A0AAB}" destId="{A6F51AE7-060F-44A7-9399-2554B5C6E4EE}" srcOrd="0" destOrd="0" presId="urn:microsoft.com/office/officeart/2018/5/layout/IconCircleLabelList"/>
    <dgm:cxn modelId="{DF3C4388-93FE-45FF-A1E7-C879F87ED606}" type="presParOf" srcId="{97EBF1AD-A751-42E8-BDAC-50A8D6D532A0}" destId="{D089BEF7-8ECF-47EB-A697-B26D3D15666F}" srcOrd="0" destOrd="0" presId="urn:microsoft.com/office/officeart/2018/5/layout/IconCircleLabelList"/>
    <dgm:cxn modelId="{609893B9-4C5D-43A3-A056-6C536FB18946}" type="presParOf" srcId="{D089BEF7-8ECF-47EB-A697-B26D3D15666F}" destId="{3CC8C03D-3D74-4670-879B-CF2645386FA8}" srcOrd="0" destOrd="0" presId="urn:microsoft.com/office/officeart/2018/5/layout/IconCircleLabelList"/>
    <dgm:cxn modelId="{3130E4EB-76CF-4038-ADA1-CCE2CF686A45}" type="presParOf" srcId="{D089BEF7-8ECF-47EB-A697-B26D3D15666F}" destId="{24603964-F4C8-4E3E-A495-17116C3D1206}" srcOrd="1" destOrd="0" presId="urn:microsoft.com/office/officeart/2018/5/layout/IconCircleLabelList"/>
    <dgm:cxn modelId="{17DCF44E-FEC3-4E34-BFE3-B0BDF0CA5415}" type="presParOf" srcId="{D089BEF7-8ECF-47EB-A697-B26D3D15666F}" destId="{FB10A9BB-1AD8-4F87-9D07-1BC64EC9A632}" srcOrd="2" destOrd="0" presId="urn:microsoft.com/office/officeart/2018/5/layout/IconCircleLabelList"/>
    <dgm:cxn modelId="{CBB52DE8-0792-4AD3-AFF9-608041C38138}" type="presParOf" srcId="{D089BEF7-8ECF-47EB-A697-B26D3D15666F}" destId="{484E6DDB-A20E-48DC-B119-45B93D376B98}" srcOrd="3" destOrd="0" presId="urn:microsoft.com/office/officeart/2018/5/layout/IconCircleLabelList"/>
    <dgm:cxn modelId="{019BD010-8B32-4B6C-99B4-6D3454370653}" type="presParOf" srcId="{97EBF1AD-A751-42E8-BDAC-50A8D6D532A0}" destId="{2DC632DA-F6D5-450B-9674-E71831BD1FEC}" srcOrd="1" destOrd="0" presId="urn:microsoft.com/office/officeart/2018/5/layout/IconCircleLabelList"/>
    <dgm:cxn modelId="{0A2D6782-E9DD-4A4E-953E-B9A9821A5B9E}" type="presParOf" srcId="{97EBF1AD-A751-42E8-BDAC-50A8D6D532A0}" destId="{AB55B8BA-3C39-4F98-80D4-FD3DC3E06547}" srcOrd="2" destOrd="0" presId="urn:microsoft.com/office/officeart/2018/5/layout/IconCircleLabelList"/>
    <dgm:cxn modelId="{C6ADD8D0-7259-4455-95B7-FA85EE965F6E}" type="presParOf" srcId="{AB55B8BA-3C39-4F98-80D4-FD3DC3E06547}" destId="{9B369C08-5D02-4B60-9DCF-73C837792D79}" srcOrd="0" destOrd="0" presId="urn:microsoft.com/office/officeart/2018/5/layout/IconCircleLabelList"/>
    <dgm:cxn modelId="{6F341D1A-63C0-4882-88A0-21415F0A978F}" type="presParOf" srcId="{AB55B8BA-3C39-4F98-80D4-FD3DC3E06547}" destId="{653F2B4A-B7B4-4EA9-9701-B352A7960F03}" srcOrd="1" destOrd="0" presId="urn:microsoft.com/office/officeart/2018/5/layout/IconCircleLabelList"/>
    <dgm:cxn modelId="{5ECBEEB7-6657-4F69-B5B8-9A3829082AEE}" type="presParOf" srcId="{AB55B8BA-3C39-4F98-80D4-FD3DC3E06547}" destId="{923C42DB-CEE5-4E06-8CE2-8018F3DB5E81}" srcOrd="2" destOrd="0" presId="urn:microsoft.com/office/officeart/2018/5/layout/IconCircleLabelList"/>
    <dgm:cxn modelId="{D1BDF927-6588-450A-9B08-9B9159F13ADD}" type="presParOf" srcId="{AB55B8BA-3C39-4F98-80D4-FD3DC3E06547}" destId="{4D0D9FA5-8B14-49B0-A295-739DE4F170CD}" srcOrd="3" destOrd="0" presId="urn:microsoft.com/office/officeart/2018/5/layout/IconCircleLabelList"/>
    <dgm:cxn modelId="{C7BE7991-2398-419E-B157-B9DB473256AC}" type="presParOf" srcId="{97EBF1AD-A751-42E8-BDAC-50A8D6D532A0}" destId="{A59FB1A2-DBBE-457A-A018-4BF40A6C7D03}" srcOrd="3" destOrd="0" presId="urn:microsoft.com/office/officeart/2018/5/layout/IconCircleLabelList"/>
    <dgm:cxn modelId="{86E93AF2-AC87-411B-9AC4-5DA1AEE2E248}" type="presParOf" srcId="{97EBF1AD-A751-42E8-BDAC-50A8D6D532A0}" destId="{5A91BD53-6359-44ED-8425-17EDD6166CBD}" srcOrd="4" destOrd="0" presId="urn:microsoft.com/office/officeart/2018/5/layout/IconCircleLabelList"/>
    <dgm:cxn modelId="{73BAD791-FB01-40B8-BC28-F2BD29C57ED6}" type="presParOf" srcId="{5A91BD53-6359-44ED-8425-17EDD6166CBD}" destId="{9587BC93-1B38-4D97-8608-4312BA5D8305}" srcOrd="0" destOrd="0" presId="urn:microsoft.com/office/officeart/2018/5/layout/IconCircleLabelList"/>
    <dgm:cxn modelId="{56786D98-ED97-48DB-AD14-398D6428563E}" type="presParOf" srcId="{5A91BD53-6359-44ED-8425-17EDD6166CBD}" destId="{54340C34-7DA7-4D4A-A4B0-D99DE676CCCA}" srcOrd="1" destOrd="0" presId="urn:microsoft.com/office/officeart/2018/5/layout/IconCircleLabelList"/>
    <dgm:cxn modelId="{4B4CBF99-24C1-47D2-8CD3-BB0B2243F54F}" type="presParOf" srcId="{5A91BD53-6359-44ED-8425-17EDD6166CBD}" destId="{1E9247DF-EE4C-4795-B8DD-3EB62E61D12F}" srcOrd="2" destOrd="0" presId="urn:microsoft.com/office/officeart/2018/5/layout/IconCircleLabelList"/>
    <dgm:cxn modelId="{18484BC1-14E3-4ED8-8594-CD974797BD80}" type="presParOf" srcId="{5A91BD53-6359-44ED-8425-17EDD6166CBD}" destId="{A6F51AE7-060F-44A7-9399-2554B5C6E4E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8C03D-3D74-4670-879B-CF2645386FA8}">
      <dsp:nvSpPr>
        <dsp:cNvPr id="0" name=""/>
        <dsp:cNvSpPr/>
      </dsp:nvSpPr>
      <dsp:spPr>
        <a:xfrm>
          <a:off x="746537" y="12382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03964-F4C8-4E3E-A495-17116C3D1206}">
      <dsp:nvSpPr>
        <dsp:cNvPr id="0" name=""/>
        <dsp:cNvSpPr/>
      </dsp:nvSpPr>
      <dsp:spPr>
        <a:xfrm>
          <a:off x="1148724" y="414570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E6DDB-A20E-48DC-B119-45B93D376B98}">
      <dsp:nvSpPr>
        <dsp:cNvPr id="0" name=""/>
        <dsp:cNvSpPr/>
      </dsp:nvSpPr>
      <dsp:spPr>
        <a:xfrm>
          <a:off x="143255" y="2487383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Core Architecture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2100" kern="1200" dirty="0"/>
        </a:p>
      </dsp:txBody>
      <dsp:txXfrm>
        <a:off x="143255" y="2487383"/>
        <a:ext cx="3093750" cy="720000"/>
      </dsp:txXfrm>
    </dsp:sp>
    <dsp:sp modelId="{9B369C08-5D02-4B60-9DCF-73C837792D79}">
      <dsp:nvSpPr>
        <dsp:cNvPr id="0" name=""/>
        <dsp:cNvSpPr/>
      </dsp:nvSpPr>
      <dsp:spPr>
        <a:xfrm>
          <a:off x="4374597" y="15062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F2B4A-B7B4-4EA9-9701-B352A7960F03}">
      <dsp:nvSpPr>
        <dsp:cNvPr id="0" name=""/>
        <dsp:cNvSpPr/>
      </dsp:nvSpPr>
      <dsp:spPr>
        <a:xfrm>
          <a:off x="4783880" y="414570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D9FA5-8B14-49B0-A295-739DE4F170CD}">
      <dsp:nvSpPr>
        <dsp:cNvPr id="0" name=""/>
        <dsp:cNvSpPr/>
      </dsp:nvSpPr>
      <dsp:spPr>
        <a:xfrm>
          <a:off x="3778412" y="2487383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Data Preprocessing</a:t>
          </a:r>
        </a:p>
      </dsp:txBody>
      <dsp:txXfrm>
        <a:off x="3778412" y="2487383"/>
        <a:ext cx="3093750" cy="720000"/>
      </dsp:txXfrm>
    </dsp:sp>
    <dsp:sp modelId="{9587BC93-1B38-4D97-8608-4312BA5D8305}">
      <dsp:nvSpPr>
        <dsp:cNvPr id="0" name=""/>
        <dsp:cNvSpPr/>
      </dsp:nvSpPr>
      <dsp:spPr>
        <a:xfrm>
          <a:off x="8016849" y="12382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40C34-7DA7-4D4A-A4B0-D99DE676CCCA}">
      <dsp:nvSpPr>
        <dsp:cNvPr id="0" name=""/>
        <dsp:cNvSpPr/>
      </dsp:nvSpPr>
      <dsp:spPr>
        <a:xfrm>
          <a:off x="8419037" y="414570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51AE7-060F-44A7-9399-2554B5C6E4EE}">
      <dsp:nvSpPr>
        <dsp:cNvPr id="0" name=""/>
        <dsp:cNvSpPr/>
      </dsp:nvSpPr>
      <dsp:spPr>
        <a:xfrm>
          <a:off x="7413568" y="2487383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Result</a:t>
          </a:r>
        </a:p>
      </dsp:txBody>
      <dsp:txXfrm>
        <a:off x="7413568" y="2487383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3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5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65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2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5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6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68" r:id="rId6"/>
    <p:sldLayoutId id="2147483864" r:id="rId7"/>
    <p:sldLayoutId id="2147483865" r:id="rId8"/>
    <p:sldLayoutId id="2147483866" r:id="rId9"/>
    <p:sldLayoutId id="2147483867" r:id="rId10"/>
    <p:sldLayoutId id="214748386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F3882-9C13-015B-C057-F32996A65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643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9DD895-DF8F-B020-6973-9E6DF5F75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Machine Learning</a:t>
            </a:r>
            <a:br>
              <a:rPr lang="en-US" sz="4200">
                <a:solidFill>
                  <a:srgbClr val="FFFFFF"/>
                </a:solidFill>
              </a:rPr>
            </a:br>
            <a:r>
              <a:rPr lang="en-US" sz="4200">
                <a:solidFill>
                  <a:srgbClr val="FFFFFF"/>
                </a:solidFill>
              </a:rPr>
              <a:t>Regression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934AB-1419-974D-E645-B29A5FF96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Spring 2026</a:t>
            </a:r>
          </a:p>
          <a:p>
            <a:r>
              <a:rPr lang="en-US" sz="2400">
                <a:solidFill>
                  <a:srgbClr val="FFFFFF"/>
                </a:solidFill>
              </a:rPr>
              <a:t>Yifei Li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70908-962C-FA26-4F95-521289AEB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636" y="657369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Main Idea &amp;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A3EB8B1-0A56-8C47-D0E4-00AC67CB1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771327"/>
              </p:ext>
            </p:extLst>
          </p:nvPr>
        </p:nvGraphicFramePr>
        <p:xfrm>
          <a:off x="515403" y="1819114"/>
          <a:ext cx="10650574" cy="3219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D0C6B1-DB51-6274-C391-D16FC47BE685}"/>
              </a:ext>
            </a:extLst>
          </p:cNvPr>
          <p:cNvSpPr txBox="1"/>
          <p:nvPr/>
        </p:nvSpPr>
        <p:spPr>
          <a:xfrm>
            <a:off x="458697" y="4897128"/>
            <a:ext cx="3893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Ridge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L2-Lasso for preventing overfitting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C3ABF-37B6-3A6C-DEDC-41793BADC84A}"/>
              </a:ext>
            </a:extLst>
          </p:cNvPr>
          <p:cNvSpPr txBox="1"/>
          <p:nvPr/>
        </p:nvSpPr>
        <p:spPr>
          <a:xfrm>
            <a:off x="4295554" y="4758629"/>
            <a:ext cx="37896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Imputation to processing</a:t>
            </a:r>
          </a:p>
          <a:p>
            <a:r>
              <a:rPr lang="en-US" dirty="0"/>
              <a:t>     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Z-score standard for all 15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1C991-5449-D352-AA0B-87DD903A1CE0}"/>
              </a:ext>
            </a:extLst>
          </p:cNvPr>
          <p:cNvSpPr txBox="1"/>
          <p:nvPr/>
        </p:nvSpPr>
        <p:spPr>
          <a:xfrm>
            <a:off x="8340590" y="4758629"/>
            <a:ext cx="32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Points of 0.06245</a:t>
            </a:r>
          </a:p>
        </p:txBody>
      </p:sp>
    </p:spTree>
    <p:extLst>
      <p:ext uri="{BB962C8B-B14F-4D97-AF65-F5344CB8AC3E}">
        <p14:creationId xmlns:p14="http://schemas.microsoft.com/office/powerpoint/2010/main" val="79943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D377-9095-C99E-BFEB-062CC521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B61E-AE82-2014-CBB9-7C58154D6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790643"/>
            <a:ext cx="5163975" cy="33517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800" dirty="0"/>
              <a:t>Feature Set:</a:t>
            </a:r>
            <a:r>
              <a:rPr lang="en-US" sz="2800" dirty="0"/>
              <a:t> 15 continuous values (x0-x14)</a:t>
            </a:r>
          </a:p>
          <a:p>
            <a:r>
              <a:rPr lang="en-US" sz="2800" dirty="0"/>
              <a:t>Missing values: Train sets and test sets including missing values</a:t>
            </a:r>
          </a:p>
          <a:p>
            <a:r>
              <a:rPr lang="en-US" sz="2800" dirty="0"/>
              <a:t>Variance: Significant scale difference.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870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B8082-0223-D5EF-E5E4-0E59F535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Handling missing values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1DFC-D8ED-1D41-C6A8-551A59537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i="1" kern="1200" dirty="0">
                <a:latin typeface="+mn-lt"/>
                <a:ea typeface="+mn-ea"/>
                <a:cs typeface="+mn-cs"/>
              </a:rPr>
              <a:t>Simple Imputer strategy</a:t>
            </a:r>
          </a:p>
          <a:p>
            <a:r>
              <a:rPr lang="en-US" dirty="0"/>
              <a:t>To preserve data integrity without dropping samples, I applied </a:t>
            </a:r>
            <a:r>
              <a:rPr lang="en-US" b="1" dirty="0"/>
              <a:t>Mean Imputation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Strict fit() on training and transform() on test sets was used to prevent "data leakage" from the unseen test set into the training phase.</a:t>
            </a:r>
          </a:p>
          <a:p>
            <a:pPr marL="0" indent="0">
              <a:buNone/>
            </a:pPr>
            <a:endParaRPr lang="en-US" i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Chess pieces on a chessboard">
            <a:extLst>
              <a:ext uri="{FF2B5EF4-FFF2-40B4-BE49-F238E27FC236}">
                <a16:creationId xmlns:a16="http://schemas.microsoft.com/office/drawing/2014/main" id="{A63CBECA-2A22-B5AC-9A5F-58C7C609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08" r="17409" b="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rson climbing snowy mountain">
            <a:extLst>
              <a:ext uri="{FF2B5EF4-FFF2-40B4-BE49-F238E27FC236}">
                <a16:creationId xmlns:a16="http://schemas.microsoft.com/office/drawing/2014/main" id="{1C09FE97-14EA-3D2D-D208-35BDE71E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0" r="-1" b="13445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F2E92-093A-8DC7-729F-EBE9E049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Ridge Regression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DF430-BE69-E3F2-B5DE-7202F01C33BC}"/>
              </a:ext>
            </a:extLst>
          </p:cNvPr>
          <p:cNvSpPr txBox="1"/>
          <p:nvPr/>
        </p:nvSpPr>
        <p:spPr>
          <a:xfrm>
            <a:off x="6652950" y="978407"/>
            <a:ext cx="56075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Motivation:</a:t>
            </a:r>
            <a:r>
              <a:rPr lang="en-US" sz="2400" dirty="0">
                <a:solidFill>
                  <a:schemeClr val="bg2"/>
                </a:solidFill>
              </a:rPr>
              <a:t> Ordinary Least Squares (OLS) tends to overfit when features are correlated. Ridge adds </a:t>
            </a:r>
            <a:r>
              <a:rPr lang="en-US" sz="2400" b="1" dirty="0">
                <a:solidFill>
                  <a:schemeClr val="bg2"/>
                </a:solidFill>
              </a:rPr>
              <a:t>a L2 penalty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Through tuning, </a:t>
            </a:r>
            <a:r>
              <a:rPr lang="en-US" sz="2400" b="1" dirty="0">
                <a:solidFill>
                  <a:schemeClr val="bg2"/>
                </a:solidFill>
              </a:rPr>
              <a:t>Alpha=1.0</a:t>
            </a:r>
            <a:r>
              <a:rPr lang="en-US" sz="2400" dirty="0">
                <a:solidFill>
                  <a:schemeClr val="bg2"/>
                </a:solidFill>
              </a:rPr>
              <a:t> was selected to balance the bias-variance trade-off.</a:t>
            </a:r>
          </a:p>
        </p:txBody>
      </p:sp>
    </p:spTree>
    <p:extLst>
      <p:ext uri="{BB962C8B-B14F-4D97-AF65-F5344CB8AC3E}">
        <p14:creationId xmlns:p14="http://schemas.microsoft.com/office/powerpoint/2010/main" val="262123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70166C37-542E-7EB9-D232-E91E94A7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239" b="5761"/>
          <a:stretch>
            <a:fillRect/>
          </a:stretch>
        </p:blipFill>
        <p:spPr>
          <a:xfrm>
            <a:off x="-1525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0BDF1-148F-542C-F4F0-293CEFF1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99528"/>
            <a:ext cx="10388670" cy="12564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Validation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7DFBA-40FC-D540-9D09-E3C5FFD89250}"/>
              </a:ext>
            </a:extLst>
          </p:cNvPr>
          <p:cNvSpPr/>
          <p:nvPr/>
        </p:nvSpPr>
        <p:spPr>
          <a:xfrm>
            <a:off x="3622169" y="2425503"/>
            <a:ext cx="3739414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80/20</a:t>
            </a:r>
            <a:endParaRPr lang="en-US" sz="6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r>
              <a:rPr lang="en-US" sz="1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Train/split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0A9A7-D4F6-171D-9C8C-92B191243366}"/>
              </a:ext>
            </a:extLst>
          </p:cNvPr>
          <p:cNvSpPr txBox="1"/>
          <p:nvPr/>
        </p:nvSpPr>
        <p:spPr>
          <a:xfrm>
            <a:off x="1328975" y="4349203"/>
            <a:ext cx="8013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i="1" dirty="0"/>
          </a:p>
          <a:p>
            <a:r>
              <a:rPr lang="en-US" b="1" i="1" dirty="0"/>
              <a:t>This ensured the model remained generalized and performed well on the hidden Kaggle private set.</a:t>
            </a:r>
          </a:p>
        </p:txBody>
      </p:sp>
    </p:spTree>
    <p:extLst>
      <p:ext uri="{BB962C8B-B14F-4D97-AF65-F5344CB8AC3E}">
        <p14:creationId xmlns:p14="http://schemas.microsoft.com/office/powerpoint/2010/main" val="760102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2503-CB74-9A4E-1AC5-E24C0A5E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Performance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5D006-7A9E-6B39-6AA3-4F6457386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63038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289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53819D1A-E139-B9B7-44A7-D2B38CE006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833" b="13167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643D61-0014-ABC8-4EF1-7A13A8EF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290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39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185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Bierstadt</vt:lpstr>
      <vt:lpstr>GestaltVTI</vt:lpstr>
      <vt:lpstr>Machine Learning Regression Challenge</vt:lpstr>
      <vt:lpstr>Main Idea &amp; Results</vt:lpstr>
      <vt:lpstr>Exploratory Data Analysis (EDA)</vt:lpstr>
      <vt:lpstr>Handling missing values</vt:lpstr>
      <vt:lpstr>Ridge Regression </vt:lpstr>
      <vt:lpstr>Validation Strategy</vt:lpstr>
      <vt:lpstr>Final Performance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Yifei Li</dc:creator>
  <cp:lastModifiedBy>Yifei Li</cp:lastModifiedBy>
  <cp:revision>8</cp:revision>
  <dcterms:created xsi:type="dcterms:W3CDTF">2026-06-11T04:54:14Z</dcterms:created>
  <dcterms:modified xsi:type="dcterms:W3CDTF">2026-06-11T05:34:19Z</dcterms:modified>
</cp:coreProperties>
</file>